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f6b3c09abb4c3f" /><Relationship Type="http://schemas.openxmlformats.org/officeDocument/2006/relationships/extended-properties" Target="/docProps/app.xml" Id="Rca693582f4da4153" /><Relationship Type="http://schemas.openxmlformats.org/officeDocument/2006/relationships/officeDocument" Target="/ppt/presentation.xml" Id="R68232f6b5de84e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7134bd1a9440a2"/>
  </p:sldMasterIdLst>
  <p:notesMasterIdLst>
    <p:notesMasterId xmlns:r="http://schemas.openxmlformats.org/officeDocument/2006/relationships" r:id="R7cc7dbb7daa14dbf"/>
  </p:notesMasterIdLst>
  <p:sldIdLst>
    <p:sldId xmlns:r="http://schemas.openxmlformats.org/officeDocument/2006/relationships" id="256" r:id="R706e5ab452b946a4"/>
    <p:sldId xmlns:r="http://schemas.openxmlformats.org/officeDocument/2006/relationships" id="257" r:id="R4ed93e90df124328"/>
    <p:sldId xmlns:r="http://schemas.openxmlformats.org/officeDocument/2006/relationships" id="258" r:id="Re2f55035661b4c18"/>
    <p:sldId xmlns:r="http://schemas.openxmlformats.org/officeDocument/2006/relationships" id="259" r:id="R3a78f25dffd84db3"/>
    <p:sldId xmlns:r="http://schemas.openxmlformats.org/officeDocument/2006/relationships" id="260" r:id="R5e62208e928145b6"/>
    <p:sldId xmlns:r="http://schemas.openxmlformats.org/officeDocument/2006/relationships" id="261" r:id="Rb0a25bc9b8094f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4ccd64e3134171" /><Relationship Type="http://schemas.openxmlformats.org/officeDocument/2006/relationships/slideMaster" Target="/ppt/slideMasters/slideMaster1.xml" Id="Ra27134bd1a9440a2" /><Relationship Type="http://schemas.openxmlformats.org/officeDocument/2006/relationships/notesMaster" Target="/ppt/notesMasters/notesMaster1.xml" Id="R7cc7dbb7daa14dbf" /><Relationship Type="http://schemas.openxmlformats.org/officeDocument/2006/relationships/presProps" Target="/ppt/presProps.xml" Id="R8f26a8d9e4ab4242" /><Relationship Type="http://schemas.openxmlformats.org/officeDocument/2006/relationships/tableStyles" Target="/ppt/tableStyles.xml" Id="R58481f90fb604943" /><Relationship Type="http://schemas.openxmlformats.org/officeDocument/2006/relationships/slide" Target="/ppt/slides/slide1.xml" Id="R706e5ab452b946a4" /><Relationship Type="http://schemas.openxmlformats.org/officeDocument/2006/relationships/slide" Target="/ppt/slides/slide2.xml" Id="R4ed93e90df124328" /><Relationship Type="http://schemas.openxmlformats.org/officeDocument/2006/relationships/slide" Target="/ppt/slides/slide3.xml" Id="Re2f55035661b4c18" /><Relationship Type="http://schemas.openxmlformats.org/officeDocument/2006/relationships/slide" Target="/ppt/slides/slide4.xml" Id="R3a78f25dffd84db3" /><Relationship Type="http://schemas.openxmlformats.org/officeDocument/2006/relationships/slide" Target="/ppt/slides/slide5.xml" Id="R5e62208e928145b6" /><Relationship Type="http://schemas.openxmlformats.org/officeDocument/2006/relationships/slide" Target="/ppt/slides/slide6.xml" Id="Rb0a25bc9b8094f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465d1b6ddd49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2a44e6cc2d4e22" /><Relationship Type="http://schemas.openxmlformats.org/officeDocument/2006/relationships/notesMaster" Target="/ppt/notesMasters/notesMaster1.xml" Id="R9873776f532e4d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5276795d19463c" /><Relationship Type="http://schemas.openxmlformats.org/officeDocument/2006/relationships/notesMaster" Target="/ppt/notesMasters/notesMaster1.xml" Id="Rdc4b399031f54d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8e5b4c9d4a466c" /><Relationship Type="http://schemas.openxmlformats.org/officeDocument/2006/relationships/notesMaster" Target="/ppt/notesMasters/notesMaster1.xml" Id="R95e75758c55643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9abf26fde0462f" /><Relationship Type="http://schemas.openxmlformats.org/officeDocument/2006/relationships/notesMaster" Target="/ppt/notesMasters/notesMaster1.xml" Id="R19d979a20a1648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698010cb7a4843" /><Relationship Type="http://schemas.openxmlformats.org/officeDocument/2006/relationships/notesMaster" Target="/ppt/notesMasters/notesMaster1.xml" Id="R65ccfe15cdbd4b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3b4e162d664e97" /><Relationship Type="http://schemas.openxmlformats.org/officeDocument/2006/relationships/notesMaster" Target="/ppt/notesMasters/notesMaster1.xml" Id="R1abc5703066943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(about 40 seconds)</a:t>
            </a:r>
          </a:p>
          <a:p xmlns:a="http://schemas.openxmlformats.org/drawingml/2006/main">
            <a:r>
              <a:t>Ask: ‘When a week gets crowded, what takes more energy — doing the work, or deciding what to do next?’</a:t>
            </a:r>
          </a:p>
          <a:p xmlns:a="http://schemas.openxmlformats.org/drawingml/2006/main">
            <a:r>
              <a:t>Introduce UniEnable as a student-built, offline planning tool designed around predictable routines and accessibility.</a:t>
            </a:r>
          </a:p>
          <a:p xmlns:a="http://schemas.openxmlformats.org/drawingml/2006/main">
            <a:r>
              <a:t>Promise the audience three things: the problem, a live workflow, and a QR code they can try immediately.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https://github.com/lukelouyu/SelfTeamProject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(about 55 seconds)</a:t>
            </a:r>
          </a:p>
          <a:p xmlns:a="http://schemas.openxmlformats.org/drawingml/2006/main">
            <a:r>
              <a:t>Do not diagnose or generalise about neurodivergent students. Describe the planning load itself.</a:t>
            </a:r>
          </a:p>
          <a:p xmlns:a="http://schemas.openxmlformats.org/drawingml/2006/main">
            <a:r>
              <a:t>Use one quick scenario: a student has a lecture, a flexible assignment, and an unfamiliar route to another building.</a:t>
            </a:r>
          </a:p>
          <a:p xmlns:a="http://schemas.openxmlformats.org/drawingml/2006/main">
            <a:r>
              <a:t>Transition: ‘UniEnable keeps those decisions explicit and predictable.’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https://github.com/lukelouyu/SelfTeamProject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overview (about 70 seconds)</a:t>
            </a:r>
          </a:p>
          <a:p xmlns:a="http://schemas.openxmlformats.org/drawingml/2006/main">
            <a:r>
              <a:t>Point to the terminal, then explain the three capabilities from top to bottom.</a:t>
            </a:r>
          </a:p>
          <a:p xmlns:a="http://schemas.openxmlformats.org/drawingml/2006/main">
            <a:r>
              <a:t>Be precise: recommendations depend on the saved preference profile, activity windows, duration, existing commitments and current time. Tomato/Pomodoro affects an advisory line, not slot placement.</a:t>
            </a:r>
          </a:p>
          <a:p xmlns:a="http://schemas.openxmlformats.org/drawingml/2006/main">
            <a:r>
              <a:t>Be precise about routes: they use supplied local reference data, not live campus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https://github.com/lukelouyu/SelfTeamProject</a:t>
            </a:r>
          </a:p>
          <a:p xmlns:a="http://schemas.openxmlformats.org/drawingml/2006/main">
            <a:r>
              <a:t>- https://github.com/lukelouyu/SelfTeamProject/blob/main/docs/UserGuide.md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demo (about 2½ minutes)</a:t>
            </a:r>
          </a:p>
          <a:p xmlns:a="http://schemas.openxmlformats.org/drawingml/2006/main">
            <a:r>
              <a:t>Before presenting: extract the release ZIP, open a terminal in that folder, and run java -jar unienable.jar.</a:t>
            </a:r>
          </a:p>
          <a:p xmlns:a="http://schemas.openxmlformats.org/drawingml/2006/main">
            <a:r>
              <a:t>Use preference view first. Then recommend next week. Highlight that generation is a preview and does not save.</a:t>
            </a:r>
          </a:p>
          <a:p xmlns:a="http://schemas.openxmlformats.org/drawingml/2006/main">
            <a:r>
              <a:t>For recommend adopt, answer n unless you intentionally prepared disposable demo data.</a:t>
            </a:r>
          </a:p>
          <a:p xmlns:a="http://schemas.openxmlformats.org/drawingml/2006/main">
            <a:r>
              <a:t>Run route from/AS7 to/CLB and read only the first and final line plus total distance.</a:t>
            </a:r>
          </a:p>
          <a:p xmlns:a="http://schemas.openxmlformats.org/drawingml/2006/main">
            <a:r>
              <a:t>If anything fails, switch immediately to the screenshot and continue. Never troubleshoot live for more than ten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https://github.com/lukelouyu/SelfTeamProject/releases/tag/v2.0.1</a:t>
            </a:r>
          </a:p>
          <a:p xmlns:a="http://schemas.openxmlformats.org/drawingml/2006/main">
            <a:r>
              <a:t>- https://github.com/lukelouyu/SelfTeamProject/blob/main/docs/UserGuide.md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Audience action (about 60 seconds)</a:t>
            </a:r>
          </a:p>
          <a:p xmlns:a="http://schemas.openxmlformats.org/drawingml/2006/main">
            <a:r>
              <a:t>Pause here. Ask everyone to take out their phones and scan one code.</a:t>
            </a:r>
          </a:p>
          <a:p xmlns:a="http://schemas.openxmlformats.org/drawingml/2006/main">
            <a:r>
              <a:t>Recommend the release code for first-time users and the repository code for students interested in development.</a:t>
            </a:r>
          </a:p>
          <a:p xmlns:a="http://schemas.openxmlformats.org/drawingml/2006/main">
            <a:r>
              <a:t>Say: ‘The distributable is the ZIP because the academic-calendar data file lives beside the JAR.’</a:t>
            </a:r>
          </a:p>
          <a:p xmlns:a="http://schemas.openxmlformats.org/drawingml/2006/main">
            <a:r>
              <a:t>Ask one person near the back to confirm the code opens before moving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https://github.com/lukelouyu/SelfTeamProject/releases/tag/v2.0.1</a:t>
            </a:r>
          </a:p>
          <a:p xmlns:a="http://schemas.openxmlformats.org/drawingml/2006/main">
            <a:r>
              <a:t>- https://github.com/lukelouyu/SelfTeamProject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(about 35 seconds)</a:t>
            </a:r>
          </a:p>
          <a:p xmlns:a="http://schemas.openxmlformats.org/drawingml/2006/main">
            <a:r>
              <a:t>Return to the opening question: the goal is to spend less energy deciding and more energy doing.</a:t>
            </a:r>
          </a:p>
          <a:p xmlns:a="http://schemas.openxmlformats.org/drawingml/2006/main">
            <a:r>
              <a:t>Invite practical feedback from first-time users, especially unclear wording, difficult setup steps and accessibility assumptions.</a:t>
            </a:r>
          </a:p>
          <a:p xmlns:a="http://schemas.openxmlformats.org/drawingml/2006/main">
            <a:r>
              <a:t>End with a concrete ask: ‘Please try one workflow and tell me the first point where you hesitate.’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https://github.com/lukelouyu/SelfTeamProject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d46674277b4b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067085c1c9400c" /><Relationship Type="http://schemas.openxmlformats.org/officeDocument/2006/relationships/slideLayout" Target="/ppt/slideLayouts/slideLayout1.xml" Id="R312c290c14e64d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2c290c14e64d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5fdc466e3419e" /><Relationship Type="http://schemas.openxmlformats.org/officeDocument/2006/relationships/notesSlide" Target="/ppt/notesSlides/notesSlide1.xml" Id="R5d658b54f46b4b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a9c123a804e8b" /><Relationship Type="http://schemas.openxmlformats.org/officeDocument/2006/relationships/notesSlide" Target="/ppt/notesSlides/notesSlide2.xml" Id="R6307eb1f21f744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9d91bd0534d52" /><Relationship Type="http://schemas.openxmlformats.org/officeDocument/2006/relationships/notesSlide" Target="/ppt/notesSlides/notesSlide3.xml" Id="Rf26bd8a47f3345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331b5977e4fa1" /><Relationship Type="http://schemas.openxmlformats.org/officeDocument/2006/relationships/notesSlide" Target="/ppt/notesSlides/notesSlide4.xml" Id="Rcb75d5a55de145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f6fd4251047f1" /><Relationship Type="http://schemas.openxmlformats.org/officeDocument/2006/relationships/image" Target="/ppt/media/image.png" Id="Re467b569ca8f43d9" /><Relationship Type="http://schemas.openxmlformats.org/officeDocument/2006/relationships/image" Target="/ppt/media/image2.png" Id="R4f872d8059ae4b4b" /><Relationship Type="http://schemas.openxmlformats.org/officeDocument/2006/relationships/notesSlide" Target="/ppt/notesSlides/notesSlide5.xml" Id="R14bbfef0230144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8933ccc0642e1" /><Relationship Type="http://schemas.openxmlformats.org/officeDocument/2006/relationships/notesSlide" Target="/ppt/notesSlides/notesSlide6.xml" Id="R319774a1e6184e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9C960A-3BAB-4A2F-8F94-A5CD2C97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337C6-6C03-41FE-882C-FE3EBCEF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C0BF8-9916-4F19-B500-5F876264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43E76-BDF1-4695-BBC5-8F72B342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4284D-CD99-4811-8FB3-42F34665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571E0-FF18-44A8-A414-4C4920D1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226E1-9033-46A2-9A61-13BB348D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C04C8-A0FD-4545-B3A2-86491F05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B68D3-CFD2-4EDB-8707-6397F4FA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C4E3B-6C3F-48B6-AAD8-31971947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C9690-D989-43E1-9FD6-4097E1CF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015B2-E30F-49F6-B65C-3E93427E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DECDF-F24C-4CEC-9555-DA5D3ECD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0B6C7-6AA3-4DED-97B9-D1AD40F7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CC6A4-AC31-4B37-9D3A-E3A22894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B32CD1-9354-429E-A889-C3181D4A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BEC0B-6FDE-4040-B89D-ECC1C1B1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510BEB-0A01-4DBC-9BAC-3811F0BD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91DFF6-8A94-4B64-8885-E33B091B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378FF9-D137-4427-BFA7-56FFD94E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D254F0-C54B-40F5-BB58-C6EB02DD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907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1B2D2A-D34E-4AD0-A5B6-EF528628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5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DBAD07-9BAF-4E59-A588-2536B816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24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1EF660-158C-4F6B-93FC-08B47FB6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EAAE07-30CB-4062-9145-233979F7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DBD4BD-26CD-4B2A-8F3A-50074F5A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4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35E6E3-44C1-4C45-BDB4-3CDEBBCB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CE7C9A-A694-4A2B-B014-984BEC87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9D83D495-3BE6-4CED-B1DC-91EEB297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653A2"/>
                </a:solidFill>
              </a:defRPr>
            </a:pPr>
            <a:r>
              <a:rPr sz="1275" b="1">
                <a:solidFill>
                  <a:srgbClr val="8653A2"/>
                </a:solidFill>
              </a:rPr>
              <a:t>ASSISTIVE TECH PROJECT</a:t>
            </a:r>
          </a:p>
        </p:txBody>
      </p:sp>
      <p:sp>
        <p:nvSpPr>
          <p:cNvPr id="30" name="hero">
            <a:extLst xmlns:a="http://schemas.openxmlformats.org/drawingml/2006/main">
              <a:ext uri="{FF2B5EF4-FFF2-40B4-BE49-F238E27FC236}">
                <a16:creationId xmlns:a16="http://schemas.microsoft.com/office/drawing/2014/main" id="{FF5658BD-3C88-49D2-AB5A-CD471AD5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442653"/>
                </a:solidFill>
              </a:defRPr>
            </a:pPr>
            <a:r>
              <a:rPr sz="5250" b="1">
                <a:solidFill>
                  <a:srgbClr val="442653"/>
                </a:solidFill>
              </a:rPr>
              <a:t>UniEnable</a:t>
            </a:r>
          </a:p>
        </p:txBody>
      </p:sp>
      <p:sp>
        <p:nvSpPr>
          <p:cNvPr id="31" name="hero-sub">
            <a:extLst xmlns:a="http://schemas.openxmlformats.org/drawingml/2006/main">
              <a:ext uri="{FF2B5EF4-FFF2-40B4-BE49-F238E27FC236}">
                <a16:creationId xmlns:a16="http://schemas.microsoft.com/office/drawing/2014/main" id="{812CFCC0-2CDC-485A-9051-D68CFDE8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8653A2"/>
                </a:solidFill>
              </a:defRPr>
            </a:pPr>
            <a:r>
              <a:rPr sz="2175">
                <a:solidFill>
                  <a:srgbClr val="8653A2"/>
                </a:solidFill>
              </a:rPr>
              <a:t>Plan campus life with less overload.</a:t>
            </a:r>
          </a:p>
        </p:txBody>
      </p:sp>
      <p:sp>
        <p:nvSpPr>
          <p:cNvPr id="32" name="statement-band">
            <a:extLst xmlns:a="http://schemas.openxmlformats.org/drawingml/2006/main">
              <a:ext uri="{FF2B5EF4-FFF2-40B4-BE49-F238E27FC236}">
                <a16:creationId xmlns:a16="http://schemas.microsoft.com/office/drawing/2014/main" id="{F9DC9F9F-45B4-4B45-9857-0704E244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795337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ADAF2"/>
            </a:solidFill>
            <a:prstDash val="solid"/>
          </a:ln>
        </p:spPr>
      </p:sp>
      <p:sp>
        <p:nvSpPr>
          <p:cNvPr id="33" name="statement">
            <a:extLst xmlns:a="http://schemas.openxmlformats.org/drawingml/2006/main">
              <a:ext uri="{FF2B5EF4-FFF2-40B4-BE49-F238E27FC236}">
                <a16:creationId xmlns:a16="http://schemas.microsoft.com/office/drawing/2014/main" id="{E9A59786-1E3D-4783-AE55-57D8E6C8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19550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9232D"/>
                </a:solidFill>
              </a:defRPr>
            </a:pPr>
            <a:r>
              <a:rPr sz="1950" b="1">
                <a:solidFill>
                  <a:srgbClr val="29232D"/>
                </a:solidFill>
              </a:rPr>
              <a:t>Tasks, timetables and accessible routes —</a:t>
            </a:r>
          </a:p>
          <a:p xmlns:a="http://schemas.openxmlformats.org/drawingml/2006/main">
            <a:pPr>
              <a:defRPr sz="1950" b="1">
                <a:solidFill>
                  <a:srgbClr val="29232D"/>
                </a:solidFill>
              </a:defRPr>
            </a:pPr>
            <a:r>
              <a:rPr sz="1950" b="1">
                <a:solidFill>
                  <a:srgbClr val="29232D"/>
                </a:solidFill>
              </a:rPr>
              <a:t>in one calm, offline command-line app.</a:t>
            </a:r>
          </a:p>
        </p:txBody>
      </p:sp>
      <p:sp>
        <p:nvSpPr>
          <p:cNvPr id="34" name="sparkle">
            <a:extLst xmlns:a="http://schemas.openxmlformats.org/drawingml/2006/main">
              <a:ext uri="{FF2B5EF4-FFF2-40B4-BE49-F238E27FC236}">
                <a16:creationId xmlns:a16="http://schemas.microsoft.com/office/drawing/2014/main" id="{4A66B4CF-C1F4-4308-B8D7-CCAA758C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7155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400">
                <a:solidFill>
                  <a:srgbClr val="C79AE0"/>
                </a:solidFill>
              </a:defRPr>
            </a:pPr>
            <a:r>
              <a:rPr sz="5400">
                <a:solidFill>
                  <a:srgbClr val="C79AE0"/>
                </a:solidFill>
              </a:rPr>
              <a:t>✦</a:t>
            </a:r>
          </a:p>
        </p:txBody>
      </p:sp>
      <p:sp>
        <p:nvSpPr>
          <p:cNvPr id="35" name="audience">
            <a:extLst xmlns:a="http://schemas.openxmlformats.org/drawingml/2006/main">
              <a:ext uri="{FF2B5EF4-FFF2-40B4-BE49-F238E27FC236}">
                <a16:creationId xmlns:a16="http://schemas.microsoft.com/office/drawing/2014/main" id="{DDFDBE2C-458E-4BDD-B590-38A23786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5D6A"/>
                </a:solidFill>
              </a:defRPr>
            </a:pPr>
            <a:r>
              <a:rPr sz="1200">
                <a:solidFill>
                  <a:srgbClr val="665D6A"/>
                </a:solidFill>
              </a:rPr>
              <a:t>A 5–7 minute introduction for NUS freshmen</a:t>
            </a:r>
          </a:p>
        </p:txBody>
      </p:sp>
    </p:spTree>
    <p:extLst>
      <p:ext uri="{BB962C8B-B14F-4D97-AF65-F5344CB8AC3E}">
        <p14:creationId xmlns:p14="http://schemas.microsoft.com/office/powerpoint/2010/main" val="757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6A568A-8CF0-4A65-9ECF-F77BD389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E74FE-D02A-4AB8-9174-DC53EBBD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30367-DCF8-45FA-945C-CDEBD2A8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4B3A0-980C-4670-A487-5B13C06F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72114-B8A1-496A-8D6C-8EA09428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619C0-1467-4B1B-966E-CC8FB29A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D4135-F035-4A79-B80C-6E7EF3B5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187B5-36DF-48E0-AB55-52CEF8E5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FBCD8-1969-49DE-8B2D-BA39C718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26C69-D780-434B-A5B7-3A0DE61A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A8A76-48C0-4D21-A533-F4848A6A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8A254-A19A-4B38-B4CB-F81514BD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F3298-493B-41E2-8114-79F4DC4D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9A9FE-7946-4B44-8796-5361BB50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98BAB-87C2-476E-92FC-B5F6FF08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01F75A-B70B-45EA-90D6-7DE964DD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FD6AC-5B46-42D7-B27B-52770B61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D913C-A67A-471F-8901-0AFB10EC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ABFFC6-BE34-44E1-9EC5-448BD489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BA8C09-CA05-4098-BC66-03B4C5E7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D09B6B-5787-4B96-9A65-EB594FDA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907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A786F-7655-4E43-BDFC-85BB09CB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5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54C7BD-772C-43D0-A61C-68B951CF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24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7CC8E2-BAFF-4165-B4B7-3DA22056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9D2B06-CA5D-4B63-8215-C6FBCEC6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283F4D-D5A8-487F-B750-902025FA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4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B3EE45-CD6E-4E3D-B471-8ABEEFC9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6BDD2F-5A9B-4428-BCEC-BE4340CA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6870FC42-5718-4247-AE6C-990041CC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653A2"/>
                </a:solidFill>
              </a:defRPr>
            </a:pPr>
            <a:r>
              <a:rPr sz="1125" b="1">
                <a:solidFill>
                  <a:srgbClr val="8653A2"/>
                </a:solidFill>
              </a:rPr>
              <a:t>WHY THIS MATTERS</a:t>
            </a:r>
          </a:p>
        </p:txBody>
      </p:sp>
      <p:sp>
        <p:nvSpPr>
          <p:cNvPr id="3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5A4E09-3CBB-4F44-8D40-F8AD9DB0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442653"/>
                </a:solidFill>
              </a:defRPr>
            </a:pPr>
            <a:r>
              <a:rPr sz="2925" b="1">
                <a:solidFill>
                  <a:srgbClr val="442653"/>
                </a:solidFill>
              </a:rPr>
              <a:t>Planning should not consume the energy meant for studying</a:t>
            </a:r>
          </a:p>
        </p:txBody>
      </p:sp>
      <p:sp>
        <p:nvSpPr>
          <p:cNvPr id="31" name="setup">
            <a:extLst xmlns:a="http://schemas.openxmlformats.org/drawingml/2006/main">
              <a:ext uri="{FF2B5EF4-FFF2-40B4-BE49-F238E27FC236}">
                <a16:creationId xmlns:a16="http://schemas.microsoft.com/office/drawing/2014/main" id="{E72A3CD5-C4A9-4AB2-AD58-5E9A35D2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862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5D6A"/>
                </a:solidFill>
              </a:defRPr>
            </a:pPr>
            <a:r>
              <a:rPr sz="1650">
                <a:solidFill>
                  <a:srgbClr val="665D6A"/>
                </a:solidFill>
              </a:rPr>
              <a:t>A normal university day can require several different kinds of planning at once.</a:t>
            </a:r>
          </a:p>
        </p:txBody>
      </p:sp>
      <p:sp>
        <p:nvSpPr>
          <p:cNvPr id="32" name="num-0">
            <a:extLst xmlns:a="http://schemas.openxmlformats.org/drawingml/2006/main">
              <a:ext uri="{FF2B5EF4-FFF2-40B4-BE49-F238E27FC236}">
                <a16:creationId xmlns:a16="http://schemas.microsoft.com/office/drawing/2014/main" id="{68043B1F-A5B6-4F24-A275-D856E3B3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79AE0"/>
                </a:solidFill>
              </a:defRPr>
            </a:pPr>
            <a:r>
              <a:rPr sz="2100" b="1">
                <a:solidFill>
                  <a:srgbClr val="C79AE0"/>
                </a:solidFill>
              </a:rPr>
              <a:t>01</a:t>
            </a:r>
          </a:p>
        </p:txBody>
      </p:sp>
      <p:sp>
        <p:nvSpPr>
          <p:cNvPr id="33" name="head-0">
            <a:extLst xmlns:a="http://schemas.openxmlformats.org/drawingml/2006/main">
              <a:ext uri="{FF2B5EF4-FFF2-40B4-BE49-F238E27FC236}">
                <a16:creationId xmlns:a16="http://schemas.microsoft.com/office/drawing/2014/main" id="{79F8F61E-293C-4443-877D-068E4FA1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621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42653"/>
                </a:solidFill>
              </a:defRPr>
            </a:pPr>
            <a:r>
              <a:rPr sz="1875" b="1">
                <a:solidFill>
                  <a:srgbClr val="442653"/>
                </a:solidFill>
              </a:rPr>
              <a:t>What comes next?</a:t>
            </a:r>
          </a:p>
        </p:txBody>
      </p:sp>
      <p:sp>
        <p:nvSpPr>
          <p:cNvPr id="34" name="body-0">
            <a:extLst xmlns:a="http://schemas.openxmlformats.org/drawingml/2006/main">
              <a:ext uri="{FF2B5EF4-FFF2-40B4-BE49-F238E27FC236}">
                <a16:creationId xmlns:a16="http://schemas.microsoft.com/office/drawing/2014/main" id="{390D0A98-4F98-4853-B207-EE028349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9232D"/>
                </a:solidFill>
              </a:defRPr>
            </a:pPr>
            <a:r>
              <a:rPr sz="1500">
                <a:solidFill>
                  <a:srgbClr val="29232D"/>
                </a:solidFill>
              </a:rPr>
              <a:t>Turn an unstructured task list into one relevant next action.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A5B2C1-A32F-4D86-832D-7BD33BFB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76550"/>
            <a:ext cx="969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AF2"/>
          </a:solidFill>
          <a:ln xmlns:a="http://schemas.openxmlformats.org/drawingml/2006/main" w="0">
            <a:noFill/>
          </a:ln>
        </p:spPr>
      </p:sp>
      <p:sp>
        <p:nvSpPr>
          <p:cNvPr id="36" name="num-1">
            <a:extLst xmlns:a="http://schemas.openxmlformats.org/drawingml/2006/main">
              <a:ext uri="{FF2B5EF4-FFF2-40B4-BE49-F238E27FC236}">
                <a16:creationId xmlns:a16="http://schemas.microsoft.com/office/drawing/2014/main" id="{C037E66E-F089-44C3-A795-6BA0D9DA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79AE0"/>
                </a:solidFill>
              </a:defRPr>
            </a:pPr>
            <a:r>
              <a:rPr sz="2100" b="1">
                <a:solidFill>
                  <a:srgbClr val="C79AE0"/>
                </a:solidFill>
              </a:rPr>
              <a:t>02</a:t>
            </a:r>
          </a:p>
        </p:txBody>
      </p:sp>
      <p:sp>
        <p:nvSpPr>
          <p:cNvPr id="37" name="head-1">
            <a:extLst xmlns:a="http://schemas.openxmlformats.org/drawingml/2006/main">
              <a:ext uri="{FF2B5EF4-FFF2-40B4-BE49-F238E27FC236}">
                <a16:creationId xmlns:a16="http://schemas.microsoft.com/office/drawing/2014/main" id="{C69AEC10-397B-46C2-8D79-94112B6D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623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42653"/>
                </a:solidFill>
              </a:defRPr>
            </a:pPr>
            <a:r>
              <a:rPr sz="1875" b="1">
                <a:solidFill>
                  <a:srgbClr val="442653"/>
                </a:solidFill>
              </a:rPr>
              <a:t>When can it fit?</a:t>
            </a:r>
          </a:p>
        </p:txBody>
      </p:sp>
      <p:sp>
        <p:nvSpPr>
          <p:cNvPr id="38" name="body-1">
            <a:extLst xmlns:a="http://schemas.openxmlformats.org/drawingml/2006/main">
              <a:ext uri="{FF2B5EF4-FFF2-40B4-BE49-F238E27FC236}">
                <a16:creationId xmlns:a16="http://schemas.microsoft.com/office/drawing/2014/main" id="{7B59B77B-2B97-4D7F-8DA6-0BF89048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909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9232D"/>
                </a:solidFill>
              </a:defRPr>
            </a:pPr>
            <a:r>
              <a:rPr sz="1500">
                <a:solidFill>
                  <a:srgbClr val="29232D"/>
                </a:solidFill>
              </a:rPr>
              <a:t>Respect fixed commitments, flexible windows and personal planning hours.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AACA95-E6FF-472C-A363-473CEDE7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969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AF2"/>
          </a:solidFill>
          <a:ln xmlns:a="http://schemas.openxmlformats.org/drawingml/2006/main" w="0">
            <a:noFill/>
          </a:ln>
        </p:spPr>
      </p:sp>
      <p:sp>
        <p:nvSpPr>
          <p:cNvPr id="40" name="num-2">
            <a:extLst xmlns:a="http://schemas.openxmlformats.org/drawingml/2006/main">
              <a:ext uri="{FF2B5EF4-FFF2-40B4-BE49-F238E27FC236}">
                <a16:creationId xmlns:a16="http://schemas.microsoft.com/office/drawing/2014/main" id="{0B44998C-981A-46EC-B280-0D4FFEFC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79AE0"/>
                </a:solidFill>
              </a:defRPr>
            </a:pPr>
            <a:r>
              <a:rPr sz="2100" b="1">
                <a:solidFill>
                  <a:srgbClr val="C79AE0"/>
                </a:solidFill>
              </a:rPr>
              <a:t>03</a:t>
            </a:r>
          </a:p>
        </p:txBody>
      </p:sp>
      <p:sp>
        <p:nvSpPr>
          <p:cNvPr id="41" name="head-2">
            <a:extLst xmlns:a="http://schemas.openxmlformats.org/drawingml/2006/main">
              <a:ext uri="{FF2B5EF4-FFF2-40B4-BE49-F238E27FC236}">
                <a16:creationId xmlns:a16="http://schemas.microsoft.com/office/drawing/2014/main" id="{CC6588D5-5E4D-4922-AA74-288B1046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624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42653"/>
                </a:solidFill>
              </a:defRPr>
            </a:pPr>
            <a:r>
              <a:rPr sz="1875" b="1">
                <a:solidFill>
                  <a:srgbClr val="442653"/>
                </a:solidFill>
              </a:rPr>
              <a:t>Can I get there?</a:t>
            </a:r>
          </a:p>
        </p:txBody>
      </p:sp>
      <p:sp>
        <p:nvSpPr>
          <p:cNvPr id="42" name="body-2">
            <a:extLst xmlns:a="http://schemas.openxmlformats.org/drawingml/2006/main">
              <a:ext uri="{FF2B5EF4-FFF2-40B4-BE49-F238E27FC236}">
                <a16:creationId xmlns:a16="http://schemas.microsoft.com/office/drawing/2014/main" id="{72DB60A2-B5E1-4D0A-9742-6A16890E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910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9232D"/>
                </a:solidFill>
              </a:defRPr>
            </a:pPr>
            <a:r>
              <a:rPr sz="1500">
                <a:solidFill>
                  <a:srgbClr val="29232D"/>
                </a:solidFill>
              </a:rPr>
              <a:t>Check local facility information and a confirmed accessible route.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DE558F-3513-4E9A-8466-B140782C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76850"/>
            <a:ext cx="969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AF2"/>
          </a:solidFill>
          <a:ln xmlns:a="http://schemas.openxmlformats.org/drawingml/2006/main" w="0">
            <a:noFill/>
          </a:ln>
        </p:spPr>
      </p:sp>
      <p:sp>
        <p:nvSpPr>
          <p:cNvPr id="44" name="footer-2">
            <a:extLst xmlns:a="http://schemas.openxmlformats.org/drawingml/2006/main">
              <a:ext uri="{FF2B5EF4-FFF2-40B4-BE49-F238E27FC236}">
                <a16:creationId xmlns:a16="http://schemas.microsoft.com/office/drawing/2014/main" id="{B36C499D-3D25-42EC-8761-D127244D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5D6A"/>
                </a:solidFill>
              </a:defRPr>
            </a:pPr>
            <a:r>
              <a:rPr sz="900">
                <a:solidFill>
                  <a:srgbClr val="665D6A"/>
                </a:solidFill>
              </a:rPr>
              <a:t>UniEnable  •  NUS Enablers</a:t>
            </a:r>
          </a:p>
        </p:txBody>
      </p:sp>
      <p:sp>
        <p:nvSpPr>
          <p:cNvPr id="45" name="page-2">
            <a:extLst xmlns:a="http://schemas.openxmlformats.org/drawingml/2006/main">
              <a:ext uri="{FF2B5EF4-FFF2-40B4-BE49-F238E27FC236}">
                <a16:creationId xmlns:a16="http://schemas.microsoft.com/office/drawing/2014/main" id="{C2A99670-21F5-4790-A6A8-434B0F5B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653A2"/>
                </a:solidFill>
              </a:defRPr>
            </a:pPr>
            <a:r>
              <a:rPr sz="900" b="1">
                <a:solidFill>
                  <a:srgbClr val="8653A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445813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D11358-A162-42EE-AEB1-90C2357E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41531-61C5-4403-A18E-4A1CCA89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3A2AE-CBBB-4CC4-A902-3FF182A8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2397F-73F7-453A-A79A-FF2F2D21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8DAD3-9A08-4518-A315-1D2BFE11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276FD-E63D-429C-9082-779FDCBA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15A36-5065-4078-805E-201FCBBD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98C11-F57E-4DFF-B566-3B269B81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7FBA7-F3F8-4EFA-98B5-6BD8AF35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0580C-A88B-4DB8-AEED-D12822F5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11383-E339-441E-BFA2-0D6546F1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BDE88-02EF-410E-9471-AD1D034A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2D880-B401-4C60-A709-AC8B4196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86684-B8C3-4248-A159-D5C166AA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6EBA4-5143-4B51-95AE-1ABA2769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7420F-98AE-4E91-9ED9-5B1A17EB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BA1D2-8B08-4279-89A4-2EB2EB99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B41F0-4553-416C-942C-523F36D1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49BA64-37CD-42EE-9B57-E679481C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6D1F09-9027-4CEA-9F8C-ECC3EDEE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B4AF78-96C9-4903-8167-1533B537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907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60E96F-34A4-4CC6-AA37-CAB13970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5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C6797E-1AB0-4B21-9BAC-04334BE7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24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38DF5A-C919-434C-BD94-F3FF56B7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FC13BC-2E5F-4178-8A96-7267D728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BFF0E9-ECE6-4CEB-9F6B-571979FA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4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6FE14A-30A9-4D5C-8A35-1C9741DA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76E47D-C0A6-4C0A-80FA-171BED34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16B51BDE-2134-4D88-ADBF-90E639CE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653A2"/>
                </a:solidFill>
              </a:defRPr>
            </a:pPr>
            <a:r>
              <a:rPr sz="1125" b="1">
                <a:solidFill>
                  <a:srgbClr val="8653A2"/>
                </a:solidFill>
              </a:rPr>
              <a:t>WHAT UNIENABLE DOES</a:t>
            </a:r>
          </a:p>
        </p:txBody>
      </p:sp>
      <p:sp>
        <p:nvSpPr>
          <p:cNvPr id="3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06C49C-65A3-4ABE-96FA-E5277E6D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442653"/>
                </a:solidFill>
              </a:defRPr>
            </a:pPr>
            <a:r>
              <a:rPr sz="2925" b="1">
                <a:solidFill>
                  <a:srgbClr val="442653"/>
                </a:solidFill>
              </a:rPr>
              <a:t>One command surface connects routine planning and accessibility</a:t>
            </a:r>
          </a:p>
        </p:txBody>
      </p:sp>
      <p:sp>
        <p:nvSpPr>
          <p:cNvPr id="31" name="product-terminal">
            <a:extLst xmlns:a="http://schemas.openxmlformats.org/drawingml/2006/main">
              <a:ext uri="{FF2B5EF4-FFF2-40B4-BE49-F238E27FC236}">
                <a16:creationId xmlns:a16="http://schemas.microsoft.com/office/drawing/2014/main" id="{58D01EF2-0846-4D19-B0DA-E0ADDA20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590550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201F24"/>
          </a:solidFill>
          <a:ln xmlns:a="http://schemas.openxmlformats.org/drawingml/2006/main" w="19050">
            <a:solidFill>
              <a:srgbClr val="201F24"/>
            </a:solidFill>
            <a:prstDash val="solid"/>
          </a:ln>
        </p:spPr>
      </p:sp>
      <p:sp>
        <p:nvSpPr>
          <p:cNvPr id="32" name="terminal-chrome">
            <a:extLst xmlns:a="http://schemas.openxmlformats.org/drawingml/2006/main">
              <a:ext uri="{FF2B5EF4-FFF2-40B4-BE49-F238E27FC236}">
                <a16:creationId xmlns:a16="http://schemas.microsoft.com/office/drawing/2014/main" id="{FF958CDD-051F-4551-8112-ACDEBA88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9AE0"/>
                </a:solidFill>
              </a:defRPr>
            </a:pPr>
            <a:r>
              <a:rPr sz="1050" b="1">
                <a:solidFill>
                  <a:srgbClr val="C79AE0"/>
                </a:solidFill>
              </a:rPr>
              <a:t>UniEnable  •  offline CLI</a:t>
            </a:r>
          </a:p>
        </p:txBody>
      </p:sp>
      <p:sp>
        <p:nvSpPr>
          <p:cNvPr id="33" name="terminal-sample">
            <a:extLst xmlns:a="http://schemas.openxmlformats.org/drawingml/2006/main">
              <a:ext uri="{FF2B5EF4-FFF2-40B4-BE49-F238E27FC236}">
                <a16:creationId xmlns:a16="http://schemas.microsoft.com/office/drawing/2014/main" id="{43565BA4-61AE-42EB-B16B-5EABDCE4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33625"/>
            <a:ext cx="5143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&gt; preference view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Preferred hours: 07:30–21:00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Minimum buffer: 30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&gt; recommend next week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Proposal generated — preview only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[1] Project work  Tue 14:00–15:30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&gt; route from/AS7 to/CLB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Total distance: 270 m</a:t>
            </a:r>
          </a:p>
        </p:txBody>
      </p:sp>
      <p:sp>
        <p:nvSpPr>
          <p:cNvPr id="34" name="terminal-caption">
            <a:extLst xmlns:a="http://schemas.openxmlformats.org/drawingml/2006/main">
              <a:ext uri="{FF2B5EF4-FFF2-40B4-BE49-F238E27FC236}">
                <a16:creationId xmlns:a16="http://schemas.microsoft.com/office/drawing/2014/main" id="{370B8117-049F-482D-8CBA-87DBADE3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9D4DC"/>
                </a:solidFill>
              </a:defRPr>
            </a:pPr>
            <a:r>
              <a:rPr sz="1125">
                <a:solidFill>
                  <a:srgbClr val="D9D4DC"/>
                </a:solidFill>
              </a:rPr>
              <a:t>Readable output. Explicit confirmation. No account or internet required.</a:t>
            </a:r>
          </a:p>
        </p:txBody>
      </p:sp>
      <p:sp>
        <p:nvSpPr>
          <p:cNvPr id="35" name="bullet-0">
            <a:extLst xmlns:a="http://schemas.openxmlformats.org/drawingml/2006/main">
              <a:ext uri="{FF2B5EF4-FFF2-40B4-BE49-F238E27FC236}">
                <a16:creationId xmlns:a16="http://schemas.microsoft.com/office/drawing/2014/main" id="{15F2AA7E-5E5A-418B-A901-E7A113A0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335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653A2"/>
                </a:solidFill>
              </a:defRPr>
            </a:pPr>
            <a:r>
              <a:rPr sz="2400" b="1">
                <a:solidFill>
                  <a:srgbClr val="8653A2"/>
                </a:solidFill>
              </a:rPr>
              <a:t>•</a:t>
            </a:r>
          </a:p>
        </p:txBody>
      </p:sp>
      <p:sp>
        <p:nvSpPr>
          <p:cNvPr id="36" name="point-head-0">
            <a:extLst xmlns:a="http://schemas.openxmlformats.org/drawingml/2006/main">
              <a:ext uri="{FF2B5EF4-FFF2-40B4-BE49-F238E27FC236}">
                <a16:creationId xmlns:a16="http://schemas.microsoft.com/office/drawing/2014/main" id="{F565236E-DE75-4907-85F5-D250D8BE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335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42653"/>
                </a:solidFill>
              </a:defRPr>
            </a:pPr>
            <a:r>
              <a:rPr sz="1725" b="1">
                <a:solidFill>
                  <a:srgbClr val="442653"/>
                </a:solidFill>
              </a:rPr>
              <a:t>Tasks + timetable</a:t>
            </a:r>
          </a:p>
        </p:txBody>
      </p:sp>
      <p:sp>
        <p:nvSpPr>
          <p:cNvPr id="37" name="point-body-0">
            <a:extLst xmlns:a="http://schemas.openxmlformats.org/drawingml/2006/main">
              <a:ext uri="{FF2B5EF4-FFF2-40B4-BE49-F238E27FC236}">
                <a16:creationId xmlns:a16="http://schemas.microsoft.com/office/drawing/2014/main" id="{3F4F70CC-A60C-401A-B310-D633823F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33600"/>
            <a:ext cx="381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5D6A"/>
                </a:solidFill>
              </a:defRPr>
            </a:pPr>
            <a:r>
              <a:rPr sz="1350">
                <a:solidFill>
                  <a:srgbClr val="665D6A"/>
                </a:solidFill>
              </a:rPr>
              <a:t>Fixed and flexible activities with energy and sensory-load context.</a:t>
            </a:r>
          </a:p>
        </p:txBody>
      </p:sp>
      <p:sp>
        <p:nvSpPr>
          <p:cNvPr id="38" name="bullet-1">
            <a:extLst xmlns:a="http://schemas.openxmlformats.org/drawingml/2006/main">
              <a:ext uri="{FF2B5EF4-FFF2-40B4-BE49-F238E27FC236}">
                <a16:creationId xmlns:a16="http://schemas.microsoft.com/office/drawing/2014/main" id="{68555461-E06A-4527-9B8E-D4787F03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908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653A2"/>
                </a:solidFill>
              </a:defRPr>
            </a:pPr>
            <a:r>
              <a:rPr sz="2400" b="1">
                <a:solidFill>
                  <a:srgbClr val="8653A2"/>
                </a:solidFill>
              </a:rPr>
              <a:t>•</a:t>
            </a:r>
          </a:p>
        </p:txBody>
      </p:sp>
      <p:sp>
        <p:nvSpPr>
          <p:cNvPr id="39" name="point-head-1">
            <a:extLst xmlns:a="http://schemas.openxmlformats.org/drawingml/2006/main">
              <a:ext uri="{FF2B5EF4-FFF2-40B4-BE49-F238E27FC236}">
                <a16:creationId xmlns:a16="http://schemas.microsoft.com/office/drawing/2014/main" id="{9A227D05-E9B1-4908-BE00-E250097F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908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42653"/>
                </a:solidFill>
              </a:defRPr>
            </a:pPr>
            <a:r>
              <a:rPr sz="1725" b="1">
                <a:solidFill>
                  <a:srgbClr val="442653"/>
                </a:solidFill>
              </a:rPr>
              <a:t>Preference-aware recommendations</a:t>
            </a:r>
          </a:p>
        </p:txBody>
      </p:sp>
      <p:sp>
        <p:nvSpPr>
          <p:cNvPr id="40" name="point-body-1">
            <a:extLst xmlns:a="http://schemas.openxmlformats.org/drawingml/2006/main">
              <a:ext uri="{FF2B5EF4-FFF2-40B4-BE49-F238E27FC236}">
                <a16:creationId xmlns:a16="http://schemas.microsoft.com/office/drawing/2014/main" id="{41CFC65F-6FE5-4E46-B0B4-92A71355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90900"/>
            <a:ext cx="381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5D6A"/>
                </a:solidFill>
              </a:defRPr>
            </a:pPr>
            <a:r>
              <a:rPr sz="1350">
                <a:solidFill>
                  <a:srgbClr val="665D6A"/>
                </a:solidFill>
              </a:rPr>
              <a:t>Preferred hours are hard boundaries; preview first, adopt only when ready.</a:t>
            </a:r>
          </a:p>
        </p:txBody>
      </p:sp>
      <p:sp>
        <p:nvSpPr>
          <p:cNvPr id="41" name="bullet-2">
            <a:extLst xmlns:a="http://schemas.openxmlformats.org/drawingml/2006/main">
              <a:ext uri="{FF2B5EF4-FFF2-40B4-BE49-F238E27FC236}">
                <a16:creationId xmlns:a16="http://schemas.microsoft.com/office/drawing/2014/main" id="{F025F837-FFCA-45F1-AC84-86ACEBD3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481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653A2"/>
                </a:solidFill>
              </a:defRPr>
            </a:pPr>
            <a:r>
              <a:rPr sz="2400" b="1">
                <a:solidFill>
                  <a:srgbClr val="8653A2"/>
                </a:solidFill>
              </a:rPr>
              <a:t>•</a:t>
            </a:r>
          </a:p>
        </p:txBody>
      </p:sp>
      <p:sp>
        <p:nvSpPr>
          <p:cNvPr id="42" name="point-head-2">
            <a:extLst xmlns:a="http://schemas.openxmlformats.org/drawingml/2006/main">
              <a:ext uri="{FF2B5EF4-FFF2-40B4-BE49-F238E27FC236}">
                <a16:creationId xmlns:a16="http://schemas.microsoft.com/office/drawing/2014/main" id="{A06BD96D-2EFD-475F-9BC4-103A3ED3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481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42653"/>
                </a:solidFill>
              </a:defRPr>
            </a:pPr>
            <a:r>
              <a:rPr sz="1725" b="1">
                <a:solidFill>
                  <a:srgbClr val="442653"/>
                </a:solidFill>
              </a:rPr>
              <a:t>Facilities + routes</a:t>
            </a:r>
          </a:p>
        </p:txBody>
      </p:sp>
      <p:sp>
        <p:nvSpPr>
          <p:cNvPr id="43" name="point-body-2">
            <a:extLst xmlns:a="http://schemas.openxmlformats.org/drawingml/2006/main">
              <a:ext uri="{FF2B5EF4-FFF2-40B4-BE49-F238E27FC236}">
                <a16:creationId xmlns:a16="http://schemas.microsoft.com/office/drawing/2014/main" id="{A7E16139-8F5C-462A-A3DD-A302B821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48200"/>
            <a:ext cx="381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5D6A"/>
                </a:solidFill>
              </a:defRPr>
            </a:pPr>
            <a:r>
              <a:rPr sz="1350">
                <a:solidFill>
                  <a:srgbClr val="665D6A"/>
                </a:solidFill>
              </a:rPr>
              <a:t>Read-only local accessibility data and confirmed route search.</a:t>
            </a:r>
          </a:p>
        </p:txBody>
      </p:sp>
      <p:sp>
        <p:nvSpPr>
          <p:cNvPr id="44" name="footer-3">
            <a:extLst xmlns:a="http://schemas.openxmlformats.org/drawingml/2006/main">
              <a:ext uri="{FF2B5EF4-FFF2-40B4-BE49-F238E27FC236}">
                <a16:creationId xmlns:a16="http://schemas.microsoft.com/office/drawing/2014/main" id="{3BFEC896-4452-4F6E-A0A7-56C4ACD3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5D6A"/>
                </a:solidFill>
              </a:defRPr>
            </a:pPr>
            <a:r>
              <a:rPr sz="900">
                <a:solidFill>
                  <a:srgbClr val="665D6A"/>
                </a:solidFill>
              </a:rPr>
              <a:t>UniEnable  •  NUS Enablers</a:t>
            </a:r>
          </a:p>
        </p:txBody>
      </p:sp>
      <p:sp>
        <p:nvSpPr>
          <p:cNvPr id="45" name="page-3">
            <a:extLst xmlns:a="http://schemas.openxmlformats.org/drawingml/2006/main">
              <a:ext uri="{FF2B5EF4-FFF2-40B4-BE49-F238E27FC236}">
                <a16:creationId xmlns:a16="http://schemas.microsoft.com/office/drawing/2014/main" id="{50EA43D9-E7EB-4933-B59C-88B5248D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653A2"/>
                </a:solidFill>
              </a:defRPr>
            </a:pPr>
            <a:r>
              <a:rPr sz="900" b="1">
                <a:solidFill>
                  <a:srgbClr val="8653A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312974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1D1C23-41EC-4D9C-9735-83FAC507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62E5E-9A0F-449A-BBD9-5B1D28DE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3C45A-A61D-4B0A-BE30-520DBA39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05707-C8F8-476D-A586-098BFED4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358AF-146C-4DD7-9722-B8C0EE5A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6CF8C-1976-4CC3-8F06-EF06E109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E6186-1948-49F3-AED8-2543524D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9CC0F-2D18-474A-8112-84FCDBDF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952155-8C7A-4977-B8C5-D03818D6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38B53-6E87-477E-88B8-4D9DC619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2F6ED-9B98-4786-870B-A9DDBC2C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AA828-663E-4B90-8389-165C9FD5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2415B8-080F-4871-9C11-50437B12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60963-61E3-4B8D-9B8B-31254CCB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5E74C-EEC5-4E0C-9A04-52C675A9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46B0F-DF2A-40B6-93B0-A0287318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F08803-75A0-4367-A4B7-9B2C96E7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4C66B-2A2D-4A47-BFDC-C20DCE17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0765EC-0F8C-4F47-9A22-A1B57AD9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C73159-E0BE-48C1-9146-E982F25C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BA3BAB-639B-48DE-A018-CA7AD572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907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B68685-F273-434D-8676-B81774F8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5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F0C352-C469-4633-B45F-17E02B6E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24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06F6A9-16A5-4081-926E-07EA38ED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9FCA9A-8AF2-4B71-91FD-A99AE92B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290CB5-E15D-493F-A31A-00F4F067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4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419047-5BE2-415D-9619-3E8A0A94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9D70AC-9616-4738-9E47-9E2BA477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3B726BF8-754E-4678-BBD8-2F9787F9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653A2"/>
                </a:solidFill>
              </a:defRPr>
            </a:pPr>
            <a:r>
              <a:rPr sz="1125" b="1">
                <a:solidFill>
                  <a:srgbClr val="8653A2"/>
                </a:solidFill>
              </a:rPr>
              <a:t>LIVE DEMONSTRATION</a:t>
            </a:r>
          </a:p>
        </p:txBody>
      </p:sp>
      <p:sp>
        <p:nvSpPr>
          <p:cNvPr id="3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63A427-A139-4B05-A1BB-EA4373FE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442653"/>
                </a:solidFill>
              </a:defRPr>
            </a:pPr>
            <a:r>
              <a:rPr sz="2925" b="1">
                <a:solidFill>
                  <a:srgbClr val="442653"/>
                </a:solidFill>
              </a:rPr>
              <a:t>Demo one decision loop — preference, proposal, route</a:t>
            </a:r>
          </a:p>
        </p:txBody>
      </p:sp>
      <p:sp>
        <p:nvSpPr>
          <p:cNvPr id="31" name="instruction">
            <a:extLst xmlns:a="http://schemas.openxmlformats.org/drawingml/2006/main">
              <a:ext uri="{FF2B5EF4-FFF2-40B4-BE49-F238E27FC236}">
                <a16:creationId xmlns:a16="http://schemas.microsoft.com/office/drawing/2014/main" id="{1245FCB8-EECE-405A-91CE-1EFED693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5D6A"/>
                </a:solidFill>
              </a:defRPr>
            </a:pPr>
            <a:r>
              <a:rPr sz="1500">
                <a:solidFill>
                  <a:srgbClr val="665D6A"/>
                </a:solidFill>
              </a:rPr>
              <a:t>Run these in order. Let the output tell the story; avoid explaining every command.</a:t>
            </a:r>
          </a:p>
        </p:txBody>
      </p:sp>
      <p:sp>
        <p:nvSpPr>
          <p:cNvPr id="32" name="terminal">
            <a:extLst xmlns:a="http://schemas.openxmlformats.org/drawingml/2006/main">
              <a:ext uri="{FF2B5EF4-FFF2-40B4-BE49-F238E27FC236}">
                <a16:creationId xmlns:a16="http://schemas.microsoft.com/office/drawing/2014/main" id="{A6DCC9D9-C1C3-48AB-AA9D-E40E62A4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858500" cy="3381375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201F24"/>
          </a:solidFill>
          <a:ln xmlns:a="http://schemas.openxmlformats.org/drawingml/2006/main" w="19050">
            <a:solidFill>
              <a:srgbClr val="201F24"/>
            </a:solidFill>
            <a:prstDash val="solid"/>
          </a:ln>
        </p:spPr>
      </p:sp>
      <p:sp>
        <p:nvSpPr>
          <p:cNvPr id="33" name="step-0">
            <a:extLst xmlns:a="http://schemas.openxmlformats.org/drawingml/2006/main">
              <a:ext uri="{FF2B5EF4-FFF2-40B4-BE49-F238E27FC236}">
                <a16:creationId xmlns:a16="http://schemas.microsoft.com/office/drawing/2014/main" id="{8F655909-9D32-4DE5-A306-0E1CA140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9AE0"/>
                </a:solidFill>
              </a:defRPr>
            </a:pPr>
            <a:r>
              <a:rPr sz="1350" b="1">
                <a:solidFill>
                  <a:srgbClr val="C79AE0"/>
                </a:solidFill>
              </a:rPr>
              <a:t>1</a:t>
            </a:r>
          </a:p>
        </p:txBody>
      </p:sp>
      <p:sp>
        <p:nvSpPr>
          <p:cNvPr id="34" name="cmd-0">
            <a:extLst xmlns:a="http://schemas.openxmlformats.org/drawingml/2006/main">
              <a:ext uri="{FF2B5EF4-FFF2-40B4-BE49-F238E27FC236}">
                <a16:creationId xmlns:a16="http://schemas.microsoft.com/office/drawing/2014/main" id="{D20E95C6-56E0-489C-BD27-84111F0E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050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&gt; preference view</a:t>
            </a:r>
          </a:p>
        </p:txBody>
      </p:sp>
      <p:sp>
        <p:nvSpPr>
          <p:cNvPr id="35" name="why-0">
            <a:extLst xmlns:a="http://schemas.openxmlformats.org/drawingml/2006/main">
              <a:ext uri="{FF2B5EF4-FFF2-40B4-BE49-F238E27FC236}">
                <a16:creationId xmlns:a16="http://schemas.microsoft.com/office/drawing/2014/main" id="{D91EC8A1-F4FC-4B06-B165-5671E29D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145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D4DC"/>
                </a:solidFill>
              </a:defRPr>
            </a:pPr>
            <a:r>
              <a:rPr sz="1275">
                <a:solidFill>
                  <a:srgbClr val="D9D4DC"/>
                </a:solidFill>
              </a:rPr>
              <a:t>Show the student’s current planning boundaries</a:t>
            </a:r>
          </a:p>
        </p:txBody>
      </p:sp>
      <p:sp>
        <p:nvSpPr>
          <p:cNvPr id="36" name="step-1">
            <a:extLst xmlns:a="http://schemas.openxmlformats.org/drawingml/2006/main">
              <a:ext uri="{FF2B5EF4-FFF2-40B4-BE49-F238E27FC236}">
                <a16:creationId xmlns:a16="http://schemas.microsoft.com/office/drawing/2014/main" id="{F81DAC01-3B1F-476E-9EED-6F00FD92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037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9AE0"/>
                </a:solidFill>
              </a:defRPr>
            </a:pPr>
            <a:r>
              <a:rPr sz="1350" b="1">
                <a:solidFill>
                  <a:srgbClr val="C79AE0"/>
                </a:solidFill>
              </a:rPr>
              <a:t>2</a:t>
            </a:r>
          </a:p>
        </p:txBody>
      </p:sp>
      <p:sp>
        <p:nvSpPr>
          <p:cNvPr id="37" name="cmd-1">
            <a:extLst xmlns:a="http://schemas.openxmlformats.org/drawingml/2006/main">
              <a:ext uri="{FF2B5EF4-FFF2-40B4-BE49-F238E27FC236}">
                <a16:creationId xmlns:a16="http://schemas.microsoft.com/office/drawing/2014/main" id="{E88E8021-E71F-4B9C-A771-3B2DC644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003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&gt; recommend next week</a:t>
            </a:r>
          </a:p>
        </p:txBody>
      </p:sp>
      <p:sp>
        <p:nvSpPr>
          <p:cNvPr id="38" name="why-1">
            <a:extLst xmlns:a="http://schemas.openxmlformats.org/drawingml/2006/main">
              <a:ext uri="{FF2B5EF4-FFF2-40B4-BE49-F238E27FC236}">
                <a16:creationId xmlns:a16="http://schemas.microsoft.com/office/drawing/2014/main" id="{94BF6D1A-58D6-4D60-9A7F-B19F9ABD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D4DC"/>
                </a:solidFill>
              </a:defRPr>
            </a:pPr>
            <a:r>
              <a:rPr sz="1275">
                <a:solidFill>
                  <a:srgbClr val="D9D4DC"/>
                </a:solidFill>
              </a:rPr>
              <a:t>Generate a read-only proposal</a:t>
            </a:r>
          </a:p>
        </p:txBody>
      </p:sp>
      <p:sp>
        <p:nvSpPr>
          <p:cNvPr id="39" name="step-2">
            <a:extLst xmlns:a="http://schemas.openxmlformats.org/drawingml/2006/main">
              <a:ext uri="{FF2B5EF4-FFF2-40B4-BE49-F238E27FC236}">
                <a16:creationId xmlns:a16="http://schemas.microsoft.com/office/drawing/2014/main" id="{971311B0-D69A-4D77-8659-798428DB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9AE0"/>
                </a:solidFill>
              </a:defRPr>
            </a:pPr>
            <a:r>
              <a:rPr sz="1350" b="1">
                <a:solidFill>
                  <a:srgbClr val="C79AE0"/>
                </a:solidFill>
              </a:rPr>
              <a:t>3</a:t>
            </a:r>
          </a:p>
        </p:txBody>
      </p:sp>
      <p:sp>
        <p:nvSpPr>
          <p:cNvPr id="40" name="cmd-2">
            <a:extLst xmlns:a="http://schemas.openxmlformats.org/drawingml/2006/main">
              <a:ext uri="{FF2B5EF4-FFF2-40B4-BE49-F238E27FC236}">
                <a16:creationId xmlns:a16="http://schemas.microsoft.com/office/drawing/2014/main" id="{2C061DD9-2B4D-4E6B-BFD3-B9EB31D5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957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&gt; recommend adopt</a:t>
            </a:r>
          </a:p>
        </p:txBody>
      </p:sp>
      <p:sp>
        <p:nvSpPr>
          <p:cNvPr id="41" name="why-2">
            <a:extLst xmlns:a="http://schemas.openxmlformats.org/drawingml/2006/main">
              <a:ext uri="{FF2B5EF4-FFF2-40B4-BE49-F238E27FC236}">
                <a16:creationId xmlns:a16="http://schemas.microsoft.com/office/drawing/2014/main" id="{2492D8F2-7E38-4432-AD63-56D03F88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052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D4DC"/>
                </a:solidFill>
              </a:defRPr>
            </a:pPr>
            <a:r>
              <a:rPr sz="1275">
                <a:solidFill>
                  <a:srgbClr val="D9D4DC"/>
                </a:solidFill>
              </a:rPr>
              <a:t>Explain confirmation — then answer n for a safe demo</a:t>
            </a:r>
          </a:p>
        </p:txBody>
      </p:sp>
      <p:sp>
        <p:nvSpPr>
          <p:cNvPr id="42" name="step-3">
            <a:extLst xmlns:a="http://schemas.openxmlformats.org/drawingml/2006/main">
              <a:ext uri="{FF2B5EF4-FFF2-40B4-BE49-F238E27FC236}">
                <a16:creationId xmlns:a16="http://schemas.microsoft.com/office/drawing/2014/main" id="{08C461E5-CAFC-4A3E-94E8-30F1AE5D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910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9AE0"/>
                </a:solidFill>
              </a:defRPr>
            </a:pPr>
            <a:r>
              <a:rPr sz="1350" b="1">
                <a:solidFill>
                  <a:srgbClr val="C79AE0"/>
                </a:solidFill>
              </a:rPr>
              <a:t>4</a:t>
            </a:r>
          </a:p>
        </p:txBody>
      </p:sp>
      <p:sp>
        <p:nvSpPr>
          <p:cNvPr id="43" name="cmd-3">
            <a:extLst xmlns:a="http://schemas.openxmlformats.org/drawingml/2006/main">
              <a:ext uri="{FF2B5EF4-FFF2-40B4-BE49-F238E27FC236}">
                <a16:creationId xmlns:a16="http://schemas.microsoft.com/office/drawing/2014/main" id="{C8B70F12-4C3E-4E7B-9D9B-774FE646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910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&gt; route from/AS7 to/CLB</a:t>
            </a:r>
          </a:p>
        </p:txBody>
      </p:sp>
      <p:sp>
        <p:nvSpPr>
          <p:cNvPr id="44" name="why-3">
            <a:extLst xmlns:a="http://schemas.openxmlformats.org/drawingml/2006/main">
              <a:ext uri="{FF2B5EF4-FFF2-40B4-BE49-F238E27FC236}">
                <a16:creationId xmlns:a16="http://schemas.microsoft.com/office/drawing/2014/main" id="{23D4F63E-8DB1-4923-99FA-F31B3AE0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005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D4DC"/>
                </a:solidFill>
              </a:defRPr>
            </a:pPr>
            <a:r>
              <a:rPr sz="1275">
                <a:solidFill>
                  <a:srgbClr val="D9D4DC"/>
                </a:solidFill>
              </a:rPr>
              <a:t>Finish with a concrete accessible route</a:t>
            </a:r>
          </a:p>
        </p:txBody>
      </p:sp>
      <p:sp>
        <p:nvSpPr>
          <p:cNvPr id="45" name="fallback">
            <a:extLst xmlns:a="http://schemas.openxmlformats.org/drawingml/2006/main">
              <a:ext uri="{FF2B5EF4-FFF2-40B4-BE49-F238E27FC236}">
                <a16:creationId xmlns:a16="http://schemas.microsoft.com/office/drawing/2014/main" id="{5117D581-BC78-4921-AE56-B27D37DB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8653A2"/>
                </a:solidFill>
              </a:defRPr>
            </a:pPr>
            <a:r>
              <a:rPr sz="1275" i="1">
                <a:solidFill>
                  <a:srgbClr val="8653A2"/>
                </a:solidFill>
              </a:rPr>
              <a:t>Fallback: keep a screenshot of the expected output open in another window.</a:t>
            </a:r>
          </a:p>
        </p:txBody>
      </p:sp>
      <p:sp>
        <p:nvSpPr>
          <p:cNvPr id="46" name="footer-4">
            <a:extLst xmlns:a="http://schemas.openxmlformats.org/drawingml/2006/main">
              <a:ext uri="{FF2B5EF4-FFF2-40B4-BE49-F238E27FC236}">
                <a16:creationId xmlns:a16="http://schemas.microsoft.com/office/drawing/2014/main" id="{1B407B09-D050-438F-B64C-3171AD7D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5D6A"/>
                </a:solidFill>
              </a:defRPr>
            </a:pPr>
            <a:r>
              <a:rPr sz="900">
                <a:solidFill>
                  <a:srgbClr val="665D6A"/>
                </a:solidFill>
              </a:rPr>
              <a:t>UniEnable  •  NUS Enablers</a:t>
            </a:r>
          </a:p>
        </p:txBody>
      </p:sp>
      <p:sp>
        <p:nvSpPr>
          <p:cNvPr id="47" name="page-4">
            <a:extLst xmlns:a="http://schemas.openxmlformats.org/drawingml/2006/main">
              <a:ext uri="{FF2B5EF4-FFF2-40B4-BE49-F238E27FC236}">
                <a16:creationId xmlns:a16="http://schemas.microsoft.com/office/drawing/2014/main" id="{65D62DAA-DFB5-4783-8AB0-25C84C48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653A2"/>
                </a:solidFill>
              </a:defRPr>
            </a:pPr>
            <a:r>
              <a:rPr sz="900" b="1">
                <a:solidFill>
                  <a:srgbClr val="8653A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051686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099025-9F60-4835-9B27-00E44911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B0CB4-E8B7-4C96-B7CF-5E67E1BD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5EB68-D924-40E8-90C4-23C054DA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DB6BC-E135-435D-97E5-8789BF2F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43D3C-BBF2-42C3-BB2A-C7E4B1EA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3B178-840F-4144-B010-6196373A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485F1-ED9F-48B9-A43E-5C70E736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43372-2BFB-40E2-A5B7-B28C0471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65E48-B9C4-4AA7-BA29-227E9085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BFD10-80D9-4395-9046-2084A4A0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6283C-0732-4D7E-804A-691A77A3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BAEEF-F031-4756-9026-941DC43C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BEC65-8127-4DFC-88BB-AA51F558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ED3B7-81E5-4332-9327-C0B28327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1AAFA-DF61-4E92-B2BB-AC28CCE1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44813D-34D4-4A8E-862C-7A08E91C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F661A-1216-4D2B-AC6C-FDFCB13D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11600-FD28-4FDE-B625-C1BFCB1D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52EAB-1825-473C-9EFA-B1920948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A4B0ED-41C5-46D9-88D6-6E755246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9DCA78-AC4D-4739-8CBD-63D1E484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907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EDD654-4D5C-4B25-9E8E-3FEB12DD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5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91B97-8835-4366-80E2-6612120F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24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99BCBB-CA9C-455A-9C24-6F8A0753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6D93B4-F13A-45EB-8927-F8FF7D39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A990DD-40BB-4BD6-90A3-4C0E94DB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4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A50AE3-8B98-474D-A2D6-F2EA4070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1565D5-89F7-4B21-A434-9E7E1956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27257580-ED32-434B-86E6-E8003720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653A2"/>
                </a:solidFill>
              </a:defRPr>
            </a:pPr>
            <a:r>
              <a:rPr sz="1125" b="1">
                <a:solidFill>
                  <a:srgbClr val="8653A2"/>
                </a:solidFill>
              </a:rPr>
              <a:t>YOUR TURN</a:t>
            </a:r>
          </a:p>
        </p:txBody>
      </p:sp>
      <p:sp>
        <p:nvSpPr>
          <p:cNvPr id="3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2BF90F-E717-48E5-9D10-302D543F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442653"/>
                </a:solidFill>
              </a:defRPr>
            </a:pPr>
            <a:r>
              <a:rPr sz="2925" b="1">
                <a:solidFill>
                  <a:srgbClr val="442653"/>
                </a:solidFill>
              </a:rPr>
              <a:t>Scan now: try the release or explore the code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7b569ca8f43d9"/>
          <a:stretch xmlns:a="http://schemas.openxmlformats.org/drawingml/2006/main"/>
        </p:blipFill>
        <p:spPr>
          <a:xfrm xmlns:a="http://schemas.openxmlformats.org/drawingml/2006/main">
            <a:off x="1285875" y="1809750"/>
            <a:ext cx="2714625" cy="2714625"/>
          </a:xfrm>
          <a:prstGeom xmlns:a="http://schemas.openxmlformats.org/drawingml/2006/main" prst="rect">
            <a:avLst/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72d8059ae4b4b"/>
          <a:stretch xmlns:a="http://schemas.openxmlformats.org/drawingml/2006/main"/>
        </p:blipFill>
        <p:spPr>
          <a:xfrm xmlns:a="http://schemas.openxmlformats.org/drawingml/2006/main">
            <a:off x="7286625" y="1809750"/>
            <a:ext cx="2714625" cy="2714625"/>
          </a:xfrm>
          <a:prstGeom xmlns:a="http://schemas.openxmlformats.org/drawingml/2006/main" prst="rect">
            <a:avLst/>
          </a:prstGeom>
        </p:spPr>
      </p:pic>
      <p:sp>
        <p:nvSpPr>
          <p:cNvPr id="33" name="release-head">
            <a:extLst xmlns:a="http://schemas.openxmlformats.org/drawingml/2006/main">
              <a:ext uri="{FF2B5EF4-FFF2-40B4-BE49-F238E27FC236}">
                <a16:creationId xmlns:a16="http://schemas.microsoft.com/office/drawing/2014/main" id="{96FD66EF-12DD-4092-BDDE-5E19930D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42653"/>
                </a:solidFill>
              </a:defRPr>
            </a:pPr>
            <a:r>
              <a:rPr sz="1875" b="1">
                <a:solidFill>
                  <a:srgbClr val="442653"/>
                </a:solidFill>
              </a:rPr>
              <a:t>Download v2.0.1</a:t>
            </a:r>
          </a:p>
        </p:txBody>
      </p:sp>
      <p:sp>
        <p:nvSpPr>
          <p:cNvPr id="34" name="release-steps">
            <a:extLst xmlns:a="http://schemas.openxmlformats.org/drawingml/2006/main">
              <a:ext uri="{FF2B5EF4-FFF2-40B4-BE49-F238E27FC236}">
                <a16:creationId xmlns:a16="http://schemas.microsoft.com/office/drawing/2014/main" id="{77FA3EF0-9D63-43C4-9F54-C2D87295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653A2"/>
                </a:solidFill>
              </a:defRPr>
            </a:pPr>
            <a:r>
              <a:rPr sz="1200">
                <a:solidFill>
                  <a:srgbClr val="8653A2"/>
                </a:solidFill>
              </a:rPr>
              <a:t>ZIP → extract → java -jar unienable.jar</a:t>
            </a:r>
          </a:p>
        </p:txBody>
      </p:sp>
      <p:sp>
        <p:nvSpPr>
          <p:cNvPr id="35" name="release-url">
            <a:extLst xmlns:a="http://schemas.openxmlformats.org/drawingml/2006/main">
              <a:ext uri="{FF2B5EF4-FFF2-40B4-BE49-F238E27FC236}">
                <a16:creationId xmlns:a16="http://schemas.microsoft.com/office/drawing/2014/main" id="{9BE15314-5A91-4B24-9E26-EA3A12D8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65D6A"/>
                </a:solidFill>
              </a:defRPr>
            </a:pPr>
            <a:r>
              <a:rPr sz="900">
                <a:solidFill>
                  <a:srgbClr val="665D6A"/>
                </a:solidFill>
              </a:rPr>
              <a:t>github.com/lukelouyu/SelfTeamProject/releases/tag/v2.0.1</a:t>
            </a:r>
          </a:p>
        </p:txBody>
      </p:sp>
      <p:sp>
        <p:nvSpPr>
          <p:cNvPr id="36" name="repo-head">
            <a:extLst xmlns:a="http://schemas.openxmlformats.org/drawingml/2006/main">
              <a:ext uri="{FF2B5EF4-FFF2-40B4-BE49-F238E27FC236}">
                <a16:creationId xmlns:a16="http://schemas.microsoft.com/office/drawing/2014/main" id="{DF450535-38B9-4099-9324-F7B5A586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2500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42653"/>
                </a:solidFill>
              </a:defRPr>
            </a:pPr>
            <a:r>
              <a:rPr sz="1875" b="1">
                <a:solidFill>
                  <a:srgbClr val="442653"/>
                </a:solidFill>
              </a:rPr>
              <a:t>Explore the repository</a:t>
            </a:r>
          </a:p>
        </p:txBody>
      </p:sp>
      <p:sp>
        <p:nvSpPr>
          <p:cNvPr id="37" name="repo-steps">
            <a:extLst xmlns:a="http://schemas.openxmlformats.org/drawingml/2006/main">
              <a:ext uri="{FF2B5EF4-FFF2-40B4-BE49-F238E27FC236}">
                <a16:creationId xmlns:a16="http://schemas.microsoft.com/office/drawing/2014/main" id="{6127E059-30DB-4758-AD66-E5139298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911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653A2"/>
                </a:solidFill>
              </a:defRPr>
            </a:pPr>
            <a:r>
              <a:rPr sz="1200">
                <a:solidFill>
                  <a:srgbClr val="8653A2"/>
                </a:solidFill>
              </a:rPr>
              <a:t>Read the guides • inspect the code • contribute</a:t>
            </a:r>
          </a:p>
        </p:txBody>
      </p:sp>
      <p:sp>
        <p:nvSpPr>
          <p:cNvPr id="38" name="repo-url">
            <a:extLst xmlns:a="http://schemas.openxmlformats.org/drawingml/2006/main">
              <a:ext uri="{FF2B5EF4-FFF2-40B4-BE49-F238E27FC236}">
                <a16:creationId xmlns:a16="http://schemas.microsoft.com/office/drawing/2014/main" id="{BDD4FB0B-8BF0-4035-BCAB-73DEA689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626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65D6A"/>
                </a:solidFill>
              </a:defRPr>
            </a:pPr>
            <a:r>
              <a:rPr sz="975">
                <a:solidFill>
                  <a:srgbClr val="665D6A"/>
                </a:solidFill>
              </a:rPr>
              <a:t>github.com/lukelouyu/SelfTeamProject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D763A4-8EA6-4AF7-8AFF-74701D80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52625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AF2"/>
          </a:solidFill>
          <a:ln xmlns:a="http://schemas.openxmlformats.org/drawingml/2006/main" w="0">
            <a:noFill/>
          </a:ln>
        </p:spPr>
      </p:sp>
      <p:sp>
        <p:nvSpPr>
          <p:cNvPr id="40" name="footer-5">
            <a:extLst xmlns:a="http://schemas.openxmlformats.org/drawingml/2006/main">
              <a:ext uri="{FF2B5EF4-FFF2-40B4-BE49-F238E27FC236}">
                <a16:creationId xmlns:a16="http://schemas.microsoft.com/office/drawing/2014/main" id="{E059DBEF-81A9-463B-87C8-3D161A6B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5D6A"/>
                </a:solidFill>
              </a:defRPr>
            </a:pPr>
            <a:r>
              <a:rPr sz="900">
                <a:solidFill>
                  <a:srgbClr val="665D6A"/>
                </a:solidFill>
              </a:rPr>
              <a:t>UniEnable  •  NUS Enablers</a:t>
            </a:r>
          </a:p>
        </p:txBody>
      </p:sp>
      <p:sp>
        <p:nvSpPr>
          <p:cNvPr id="41" name="page-5">
            <a:extLst xmlns:a="http://schemas.openxmlformats.org/drawingml/2006/main">
              <a:ext uri="{FF2B5EF4-FFF2-40B4-BE49-F238E27FC236}">
                <a16:creationId xmlns:a16="http://schemas.microsoft.com/office/drawing/2014/main" id="{2BE45D5D-D398-40CF-84D0-2596A5D4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653A2"/>
                </a:solidFill>
              </a:defRPr>
            </a:pPr>
            <a:r>
              <a:rPr sz="900" b="1">
                <a:solidFill>
                  <a:srgbClr val="8653A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171373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7E486A-1B8D-4AC0-B777-C55758A4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77810-A4EA-4D39-A0A0-11B82B57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0BE18-B117-42E5-96CF-D1C5DF79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58AC5-6186-4990-880A-2F55080F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6A82F-F96F-4614-B2D1-DCC9EA71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A032E-801F-4C60-86E6-D48AD17D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5009D-FA5F-4BE1-845B-8C0E00D4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664EF-A144-46FD-ADC4-EBDA0CDC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CC73E-5FA7-4643-B811-8AF0A787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7841A-6244-4164-97D4-1DC8399B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BB505-CC47-4D60-921A-FEF030D2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38ED08-E4D6-4442-A380-4C1FA755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A41E52-F78B-47CE-A76B-34F4ACBB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C3B4F-F6C2-4BA8-A862-FA77302D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F5AB5-34B9-4716-B096-A5F39533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EFC3B-FF34-4F47-90F5-3767868C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EA566C-4FEE-4C1D-855D-8E0B5053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4C549B-817E-4404-8DF8-133D838F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94273-EACD-44BD-89E2-DD2F2486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CC50F-209C-44BE-8B75-79F68ADF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0DBB36-0385-4A47-B0A0-71885A0B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907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962465-B2EA-40DE-B73C-44BF40E3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57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AB6E8D-89E7-43CD-8227-2A56FDFE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24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2FAEDD-B548-4327-802A-5D1315EC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345E82-AE4B-471C-B7D9-6137B2AB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4D8A93-AC30-488D-890F-7959C128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44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0B587B-993A-449F-B09A-D028D93B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4AC25B-D7DB-402B-9DAC-F007EDA6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F2"/>
          </a:solidFill>
          <a:ln xmlns:a="http://schemas.openxmlformats.org/drawingml/2006/main" w="0">
            <a:noFill/>
          </a:ln>
        </p:spPr>
      </p:sp>
      <p:sp>
        <p:nvSpPr>
          <p:cNvPr id="29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26E40874-67B7-44AD-A505-AC736CB0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653A2"/>
                </a:solidFill>
              </a:defRPr>
            </a:pPr>
            <a:r>
              <a:rPr sz="1200" b="1">
                <a:solidFill>
                  <a:srgbClr val="8653A2"/>
                </a:solidFill>
              </a:rPr>
              <a:t>TAKE ONE NEXT STEP</a:t>
            </a:r>
          </a:p>
        </p:txBody>
      </p:sp>
      <p:sp>
        <p:nvSpPr>
          <p:cNvPr id="30" name="close-title">
            <a:extLst xmlns:a="http://schemas.openxmlformats.org/drawingml/2006/main">
              <a:ext uri="{FF2B5EF4-FFF2-40B4-BE49-F238E27FC236}">
                <a16:creationId xmlns:a16="http://schemas.microsoft.com/office/drawing/2014/main" id="{97263BC2-83FD-4397-9BE4-826A94E3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442653"/>
                </a:solidFill>
              </a:defRPr>
            </a:pPr>
            <a:r>
              <a:rPr sz="3600" b="1">
                <a:solidFill>
                  <a:srgbClr val="442653"/>
                </a:solidFill>
              </a:rPr>
              <a:t>Try it. Break it. Improve it.</a:t>
            </a:r>
          </a:p>
        </p:txBody>
      </p:sp>
      <p:sp>
        <p:nvSpPr>
          <p:cNvPr id="31" name="close-body">
            <a:extLst xmlns:a="http://schemas.openxmlformats.org/drawingml/2006/main">
              <a:ext uri="{FF2B5EF4-FFF2-40B4-BE49-F238E27FC236}">
                <a16:creationId xmlns:a16="http://schemas.microsoft.com/office/drawing/2014/main" id="{3D8D23BB-7A3A-41DD-929A-BDC71DA6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5D6A"/>
                </a:solidFill>
              </a:defRPr>
            </a:pPr>
            <a:r>
              <a:rPr sz="1800">
                <a:solidFill>
                  <a:srgbClr val="665D6A"/>
                </a:solidFill>
              </a:rPr>
              <a:t>UniEnable is useful as an app — and as a small Java codebase you can learn from.</a:t>
            </a:r>
          </a:p>
        </p:txBody>
      </p:sp>
      <p:sp>
        <p:nvSpPr>
          <p:cNvPr id="32" name="act-h-0">
            <a:extLst xmlns:a="http://schemas.openxmlformats.org/drawingml/2006/main">
              <a:ext uri="{FF2B5EF4-FFF2-40B4-BE49-F238E27FC236}">
                <a16:creationId xmlns:a16="http://schemas.microsoft.com/office/drawing/2014/main" id="{4BB0B8C1-E8E4-4628-8F65-91DE0A14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653A2"/>
                </a:solidFill>
              </a:defRPr>
            </a:pPr>
            <a:r>
              <a:rPr sz="1950" b="1">
                <a:solidFill>
                  <a:srgbClr val="8653A2"/>
                </a:solidFill>
              </a:rPr>
              <a:t>Try</a:t>
            </a:r>
          </a:p>
        </p:txBody>
      </p:sp>
      <p:sp>
        <p:nvSpPr>
          <p:cNvPr id="33" name="act-b-0">
            <a:extLst xmlns:a="http://schemas.openxmlformats.org/drawingml/2006/main">
              <a:ext uri="{FF2B5EF4-FFF2-40B4-BE49-F238E27FC236}">
                <a16:creationId xmlns:a16="http://schemas.microsoft.com/office/drawing/2014/main" id="{046B3C01-CE73-4D1D-99A5-FBE9C7C6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232D"/>
                </a:solidFill>
              </a:defRPr>
            </a:pPr>
            <a:r>
              <a:rPr sz="1425">
                <a:solidFill>
                  <a:srgbClr val="29232D"/>
                </a:solidFill>
              </a:rPr>
              <a:t>Use it for one planning session.</a:t>
            </a:r>
          </a:p>
        </p:txBody>
      </p:sp>
      <p:sp>
        <p:nvSpPr>
          <p:cNvPr id="34" name="act-h-1">
            <a:extLst xmlns:a="http://schemas.openxmlformats.org/drawingml/2006/main">
              <a:ext uri="{FF2B5EF4-FFF2-40B4-BE49-F238E27FC236}">
                <a16:creationId xmlns:a16="http://schemas.microsoft.com/office/drawing/2014/main" id="{AFCDB8FD-EF82-4D15-883A-76DE83BF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14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653A2"/>
                </a:solidFill>
              </a:defRPr>
            </a:pPr>
            <a:r>
              <a:rPr sz="1950" b="1">
                <a:solidFill>
                  <a:srgbClr val="8653A2"/>
                </a:solidFill>
              </a:rPr>
              <a:t>Test</a:t>
            </a:r>
          </a:p>
        </p:txBody>
      </p:sp>
      <p:sp>
        <p:nvSpPr>
          <p:cNvPr id="35" name="act-b-1">
            <a:extLst xmlns:a="http://schemas.openxmlformats.org/drawingml/2006/main">
              <a:ext uri="{FF2B5EF4-FFF2-40B4-BE49-F238E27FC236}">
                <a16:creationId xmlns:a16="http://schemas.microsoft.com/office/drawing/2014/main" id="{DD0AB575-2AF1-440B-893F-B4243247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719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232D"/>
                </a:solidFill>
              </a:defRPr>
            </a:pPr>
            <a:r>
              <a:rPr sz="1425">
                <a:solidFill>
                  <a:srgbClr val="29232D"/>
                </a:solidFill>
              </a:rPr>
              <a:t>Find a confusing command or edge case.</a:t>
            </a:r>
          </a:p>
        </p:txBody>
      </p:sp>
      <p:sp>
        <p:nvSpPr>
          <p:cNvPr id="36" name="act-h-2">
            <a:extLst xmlns:a="http://schemas.openxmlformats.org/drawingml/2006/main">
              <a:ext uri="{FF2B5EF4-FFF2-40B4-BE49-F238E27FC236}">
                <a16:creationId xmlns:a16="http://schemas.microsoft.com/office/drawing/2014/main" id="{DA4183E8-4EA3-4D85-8992-DC5C95E3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653A2"/>
                </a:solidFill>
              </a:defRPr>
            </a:pPr>
            <a:r>
              <a:rPr sz="1950" b="1">
                <a:solidFill>
                  <a:srgbClr val="8653A2"/>
                </a:solidFill>
              </a:rPr>
              <a:t>Contribute</a:t>
            </a:r>
          </a:p>
        </p:txBody>
      </p:sp>
      <p:sp>
        <p:nvSpPr>
          <p:cNvPr id="37" name="act-b-2">
            <a:extLst xmlns:a="http://schemas.openxmlformats.org/drawingml/2006/main">
              <a:ext uri="{FF2B5EF4-FFF2-40B4-BE49-F238E27FC236}">
                <a16:creationId xmlns:a16="http://schemas.microsoft.com/office/drawing/2014/main" id="{0C02D819-BC3E-428E-B4F7-FD2BD2F1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719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232D"/>
                </a:solidFill>
              </a:defRPr>
            </a:pPr>
            <a:r>
              <a:rPr sz="1425">
                <a:solidFill>
                  <a:srgbClr val="29232D"/>
                </a:solidFill>
              </a:rPr>
              <a:t>Open an issue or propose a focused improvement.</a:t>
            </a:r>
          </a:p>
        </p:txBody>
      </p:sp>
      <p:sp>
        <p:nvSpPr>
          <p:cNvPr id="38" name="close-url">
            <a:extLst xmlns:a="http://schemas.openxmlformats.org/drawingml/2006/main">
              <a:ext uri="{FF2B5EF4-FFF2-40B4-BE49-F238E27FC236}">
                <a16:creationId xmlns:a16="http://schemas.microsoft.com/office/drawing/2014/main" id="{5861F93B-C021-4179-B281-3C05D495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150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42653"/>
                </a:solidFill>
              </a:defRPr>
            </a:pPr>
            <a:r>
              <a:rPr sz="1500" b="1">
                <a:solidFill>
                  <a:srgbClr val="442653"/>
                </a:solidFill>
              </a:rPr>
              <a:t>github.com/lukelouyu/SelfTeamProject</a:t>
            </a:r>
          </a:p>
        </p:txBody>
      </p:sp>
      <p:sp>
        <p:nvSpPr>
          <p:cNvPr id="39" name="sparkle-close">
            <a:extLst xmlns:a="http://schemas.openxmlformats.org/drawingml/2006/main">
              <a:ext uri="{FF2B5EF4-FFF2-40B4-BE49-F238E27FC236}">
                <a16:creationId xmlns:a16="http://schemas.microsoft.com/office/drawing/2014/main" id="{6431B2E6-E613-4CFA-AA31-BD6EE589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809625"/>
            <a:ext cx="904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700">
                <a:solidFill>
                  <a:srgbClr val="C79AE0"/>
                </a:solidFill>
              </a:defRPr>
            </a:pPr>
            <a:r>
              <a:rPr sz="5700">
                <a:solidFill>
                  <a:srgbClr val="C79AE0"/>
                </a:solidFill>
              </a:rPr>
              <a:t>✦</a:t>
            </a:r>
          </a:p>
        </p:txBody>
      </p:sp>
      <p:sp>
        <p:nvSpPr>
          <p:cNvPr id="40" name="footer-6">
            <a:extLst xmlns:a="http://schemas.openxmlformats.org/drawingml/2006/main">
              <a:ext uri="{FF2B5EF4-FFF2-40B4-BE49-F238E27FC236}">
                <a16:creationId xmlns:a16="http://schemas.microsoft.com/office/drawing/2014/main" id="{448AA376-EF5D-40F2-8D82-74D9E910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5D6A"/>
                </a:solidFill>
              </a:defRPr>
            </a:pPr>
            <a:r>
              <a:rPr sz="900">
                <a:solidFill>
                  <a:srgbClr val="665D6A"/>
                </a:solidFill>
              </a:rPr>
              <a:t>UniEnable  •  NUS Enablers</a:t>
            </a:r>
          </a:p>
        </p:txBody>
      </p:sp>
      <p:sp>
        <p:nvSpPr>
          <p:cNvPr id="41" name="page-6">
            <a:extLst xmlns:a="http://schemas.openxmlformats.org/drawingml/2006/main">
              <a:ext uri="{FF2B5EF4-FFF2-40B4-BE49-F238E27FC236}">
                <a16:creationId xmlns:a16="http://schemas.microsoft.com/office/drawing/2014/main" id="{BFF74C05-B02D-42A2-84F7-C248C715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653A2"/>
                </a:solidFill>
              </a:defRPr>
            </a:pPr>
            <a:r>
              <a:rPr sz="900" b="1">
                <a:solidFill>
                  <a:srgbClr val="8653A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95208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2026-08-07T15:21:14.0870000Z</dcterms:created>
  <dcterms:modified xsi:type="dcterms:W3CDTF">2026-08-07T15:21:14.0870000Z</dcterms:modified>
</coreProperties>
</file>